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Table 1. Participant characteristics</a:t>
            </a:r>
          </a:p>
        </p:txBody>
      </p:sp>
      <p:graphicFrame>
        <p:nvGraphicFramePr>
          <p:cNvPr id="3" name="Content Placeholder 2"/>
          <p:cNvGraphicFramePr>
            <a:graphicFrameLocks noGrp="true"/>
          </p:cNvGraphicFramePr>
          <p:nvPr/>
        </p:nvGraphicFramePr>
        <p:xfrm rot="0">
          <a:off x="457200" y="1600200"/>
          <a:ext cx="8229600" cy="4525963"/>
        </p:xfrm>
        <a:graphic>
          <a:graphicData uri="http://schemas.openxmlformats.org/drawingml/2006/table">
            <a:tbl>
              <a:tblPr/>
              <a:tblGrid>
                <a:gridCol w="2464527"/>
                <a:gridCol w="1270529"/>
              </a:tblGrid>
              <a:tr h="40391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Overall</a:t>
                      </a:r>
                      <a:b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(N=1756)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Vitamin D category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Sufficient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560 (31.9%)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Insufficient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642 (36.6%)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Deficient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554 (31.5%)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64184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Sex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Male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836 (47.6%)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Female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920 (52.4%)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Age (years)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Mean (SD)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31.7 (8.24)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94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Median [Min, Max]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32.0 [18.0, 45.0]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Race/ethnicity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Mexican American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194 (11.0%)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Other Hispanic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212 (12.1%)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Non-Hispanic White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896 (51.0%)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Non-Hispanic Black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218 (12.4%)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Non-Hispanic Asian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 (0%)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Other Race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110 (6.3%)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Multiracial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126 (7.2%)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62411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Education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Less than 9th grade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43 (2.4%)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9–11th grade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111 (6.3%)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High school grad/GED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332 (18.9%)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Some college/AA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545 (31.0%)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College graduate or above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725 (41.3%)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Income-to-poverty ratio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Mean (SD)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2.80 (1.69)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94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Median [Min, Max]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2.73 [0, 5.00]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Body mass index (kg/m²)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Mean (SD)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29.1 (7.73)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94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Median [Min, Max]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27.3 [15.0, 69.1]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Smoking status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Never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1240 (70.6%)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Former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286 (16.3%)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Current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230 (13.1%)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62411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Alcohol use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None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320 (18.2%)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Light (&lt;1/week)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 (1.1%)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Moderate (1–2/week)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63 (3.6%)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Heavy (&gt;2/week)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1353 (77.1%)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Any chronic disease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Yes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635 (36.2%)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No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1121 (63.8%)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94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Depressive symptoms (PHQ-9 ≥10)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Yes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291 (16.6%)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No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1465 (83.4%)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2025-12-02T23:12:34Z</dcterms:modified>
  <cp:category/>
</cp:coreProperties>
</file>